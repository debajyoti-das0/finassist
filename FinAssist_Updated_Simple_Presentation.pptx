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1" i="0">
                <a:solidFill>
                  <a:srgbClr val="DCDCDC"/>
                </a:solidFill>
                <a:latin typeface="Aptos"/>
              </a:defRPr>
            </a:pPr>
            <a:r>
              <a:t>FINASSIST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33272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AI-Powered Fraud &amp; Loan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FinAssist</a:t>
            </a:r>
            <a:r>
              <a:rPr dirty="0"/>
              <a:t> lets a user ask questions about financial accounts, transactions, fraud alerts and loans in ordinary English. It turns the question into a database query, checks the query, retrieves matching records, and explains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149840" cy="68582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900" b="0" i="0">
                <a:solidFill>
                  <a:srgbClr val="E1E1E1"/>
                </a:solidFill>
                <a:latin typeface="Aptos"/>
              </a:defRPr>
            </a:pPr>
            <a:r>
              <a:rPr dirty="0"/>
              <a:t>Example: “How many flagged transactions are linked to </a:t>
            </a:r>
            <a:r>
              <a:rPr lang="en-IN" dirty="0"/>
              <a:t>Harini Dhawan</a:t>
            </a:r>
            <a:r>
              <a:rPr dirty="0"/>
              <a:t>?”</a:t>
            </a:r>
          </a:p>
          <a:p>
            <a:pPr>
              <a:spcAft>
                <a:spcPts val="500"/>
              </a:spcAft>
              <a:defRPr sz="1900" b="0" i="0">
                <a:solidFill>
                  <a:srgbClr val="E1E1E1"/>
                </a:solidFill>
                <a:latin typeface="Aptos"/>
              </a:defRPr>
            </a:pPr>
            <a:r>
              <a:rPr dirty="0"/>
              <a:t>The system searches the database and returns an evidence-based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D2D2D2"/>
                </a:solidFill>
                <a:latin typeface="Aptos"/>
              </a:defRPr>
            </a:pPr>
            <a:r>
              <a:t>Streamlit • FastAPI • LangChain / Groq • LangGraph • PostgreSQL • SQLGlot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t>How FinAssist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A question travels through the application and comes back as an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1.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User types a 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6272" y="2560320"/>
            <a:ext cx="210312" cy="0"/>
          </a:xfrm>
          <a:prstGeom prst="line">
            <a:avLst/>
          </a:prstGeom>
          <a:ln w="1651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86584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2. Receive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FastAPI receives 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23944" y="2560320"/>
            <a:ext cx="210312" cy="0"/>
          </a:xfrm>
          <a:prstGeom prst="line">
            <a:avLst/>
          </a:prstGeom>
          <a:ln w="1651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34256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3. 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LLM drafts SQL using the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1616" y="2560320"/>
            <a:ext cx="210312" cy="0"/>
          </a:xfrm>
          <a:prstGeom prst="line">
            <a:avLst/>
          </a:prstGeom>
          <a:ln w="1651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81927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4.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3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SQLGlot validates the 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19288" y="2560320"/>
            <a:ext cx="210312" cy="0"/>
          </a:xfrm>
          <a:prstGeom prst="line">
            <a:avLst/>
          </a:prstGeom>
          <a:ln w="1651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0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5.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PostgreSQL returns rows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6960" y="2560320"/>
            <a:ext cx="210312" cy="0"/>
          </a:xfrm>
          <a:prstGeom prst="line">
            <a:avLst/>
          </a:prstGeom>
          <a:ln w="1651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77272" y="2331720"/>
            <a:ext cx="1737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0F0F"/>
                </a:solidFill>
                <a:latin typeface="Aptos"/>
              </a:defRPr>
            </a:pPr>
            <a:r>
              <a:t>6. 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3847" y="2788920"/>
            <a:ext cx="1664208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LLM summarizes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10332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0F0F0F"/>
                </a:solidFill>
                <a:latin typeface="Aptos"/>
              </a:defRPr>
            </a:pPr>
            <a:r>
              <a:t>Streamlit displays the final summary, any returned data rows, and the generated SQL. LangGraph controls the steps and retries some failed queries.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400" b="0" i="1">
                <a:solidFill>
                  <a:srgbClr val="5F5F5F"/>
                </a:solidFill>
                <a:latin typeface="Aptos"/>
              </a:defRPr>
            </a:pPr>
            <a:r>
              <a:t>The LLM helps write and explain the query; PostgreSQL performs the actual data calculations.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72EB7A-22E0-47C1-7D76-F93E9C60D104}"/>
              </a:ext>
            </a:extLst>
          </p:cNvPr>
          <p:cNvSpPr txBox="1"/>
          <p:nvPr/>
        </p:nvSpPr>
        <p:spPr>
          <a:xfrm>
            <a:off x="1002889" y="629265"/>
            <a:ext cx="940947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Explain each technology in one or two sentences.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Python: Main programming language used to build the project.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Streamlit</a:t>
            </a:r>
            <a:r>
              <a:rPr lang="en-IN" dirty="0"/>
              <a:t>: Provides the user interface where users enter questions and view results.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FastAPI</a:t>
            </a:r>
            <a:r>
              <a:rPr lang="en-IN" dirty="0"/>
              <a:t>: Creates the backend API that receives questions from </a:t>
            </a:r>
            <a:r>
              <a:rPr lang="en-IN" dirty="0" err="1"/>
              <a:t>Streamlit</a:t>
            </a:r>
            <a:r>
              <a:rPr lang="en-IN" dirty="0"/>
              <a:t> and returns the response.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LangChain</a:t>
            </a:r>
            <a:r>
              <a:rPr lang="en-IN" dirty="0"/>
              <a:t>: Connects the application to the language model through </a:t>
            </a:r>
            <a:r>
              <a:rPr lang="en-IN" dirty="0" err="1"/>
              <a:t>ChatGroq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LangGraph</a:t>
            </a:r>
            <a:r>
              <a:rPr lang="en-IN" dirty="0"/>
              <a:t>: Controls the workflow, including SQL generation, query execution, and error-retry steps.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Groq</a:t>
            </a:r>
            <a:r>
              <a:rPr lang="en-IN" dirty="0"/>
              <a:t> LLM: Generates SQL from the user's question and helps explain the query results.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PostgreSQL: Stores the financial data.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 err="1"/>
              <a:t>SQLGlot</a:t>
            </a:r>
            <a:r>
              <a:rPr lang="en-IN" dirty="0"/>
              <a:t>: Parses and checks generated SQL against the project's safety rules before execution.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00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Database tables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Table names and attributes from the supplied schema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0F0F0F"/>
                </a:solidFill>
                <a:latin typeface="Aptos"/>
              </a:defRPr>
            </a:pPr>
            <a:r>
              <a:t>1.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5029200" cy="1920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account_id</a:t>
            </a:r>
            <a:endParaRPr dirty="0"/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name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phone_number</a:t>
            </a:r>
            <a:endParaRPr dirty="0"/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account_type</a:t>
            </a:r>
            <a:endParaRPr dirty="0"/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balance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risk_score</a:t>
            </a:r>
            <a:endParaRPr dirty="0"/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open_date</a:t>
            </a:r>
            <a:endParaRPr dirty="0"/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active_status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0F0F0F"/>
                </a:solidFill>
                <a:latin typeface="Aptos"/>
              </a:defRPr>
            </a:pPr>
            <a:r>
              <a:t>2.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029200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transaction_id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sender_account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receiver_account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amount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transaction_type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txn_datetime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flagged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3327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These tables help connect account holders to money transfers and flagged transactions.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Database tables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The other existing tables and their attributes.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0F0F0F"/>
                </a:solidFill>
                <a:latin typeface="Aptos"/>
              </a:defRPr>
            </a:pPr>
            <a:r>
              <a:t>3.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502920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device_id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account_id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fingerprint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0F0F0F"/>
                </a:solidFill>
                <a:latin typeface="Aptos"/>
              </a:defRPr>
            </a:pPr>
            <a:r>
              <a:t>4. FraudAlerts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029200" cy="1737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alert_id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transaction_id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reason</a:t>
            </a:r>
          </a:p>
          <a:p>
            <a:pPr>
              <a:spcAft>
                <a:spcPts val="500"/>
              </a:spcAft>
              <a:defRPr sz="1700" b="0" i="0">
                <a:solidFill>
                  <a:srgbClr val="0F0F0F"/>
                </a:solidFill>
                <a:latin typeface="Aptos"/>
              </a:defRPr>
            </a:pPr>
            <a:r>
              <a:t>• alert_date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42416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5F5F5F"/>
                </a:solidFill>
                <a:latin typeface="Aptos"/>
              </a:defRPr>
            </a:pPr>
            <a:r>
              <a:t>Devices stores device identifiers linked to accounts. FraudAlerts stores alert details associated with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85587"/>
            <a:ext cx="10881360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rPr sz="2400" dirty="0"/>
              <a:t>5.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3035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900" b="1" i="0">
                <a:solidFill>
                  <a:srgbClr val="0F0F0F"/>
                </a:solidFill>
                <a:latin typeface="Aptos"/>
              </a:defRPr>
            </a:pPr>
            <a:r>
              <a:t>Loan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120640" cy="2286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loan_id</a:t>
            </a:r>
            <a:r>
              <a:rPr dirty="0"/>
              <a:t>, </a:t>
            </a:r>
            <a:r>
              <a:rPr dirty="0" err="1"/>
              <a:t>account_id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loan_type</a:t>
            </a:r>
            <a:r>
              <a:rPr dirty="0"/>
              <a:t>, </a:t>
            </a:r>
            <a:r>
              <a:rPr dirty="0" err="1"/>
              <a:t>loan_amount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interest_rate</a:t>
            </a:r>
            <a:r>
              <a:rPr dirty="0"/>
              <a:t>, </a:t>
            </a:r>
            <a:r>
              <a:rPr dirty="0" err="1"/>
              <a:t>loan_term_months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monthly_emi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loan_start_date</a:t>
            </a:r>
            <a:r>
              <a:rPr dirty="0"/>
              <a:t>, </a:t>
            </a:r>
            <a:r>
              <a:rPr dirty="0" err="1"/>
              <a:t>loan_end_date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loan_status</a:t>
            </a:r>
            <a:endParaRPr dirty="0"/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outstanding_amount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1206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900" b="1" i="0">
                <a:solidFill>
                  <a:srgbClr val="0F0F0F"/>
                </a:solidFill>
                <a:latin typeface="Aptos"/>
              </a:defRPr>
            </a:pPr>
            <a:r>
              <a:t>Repayment and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2286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total_emis_due, total_emis_paid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missed_emi_count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days_past_due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loan_risk_score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last_payment_date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t>• created_at, updated_at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03327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5F5F5F"/>
                </a:solidFill>
                <a:latin typeface="Aptos"/>
              </a:defRPr>
            </a:pPr>
            <a:r>
              <a:t>Loans.account_id references Accounts.account_id, so loans can be associated with the correct account.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t>Formula 1: Account risk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Each factor is scored from 0 to 100.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9848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2800" b="1" i="0">
                <a:solidFill>
                  <a:srgbClr val="0F0F0F"/>
                </a:solidFill>
                <a:latin typeface="Aptos"/>
              </a:defRPr>
            </a:pPr>
            <a:r>
              <a:t>R = 0.35D + 0.25M + 0.20P + 0.15O + 0.05H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1" i="0">
                <a:solidFill>
                  <a:srgbClr val="5F5F5F"/>
                </a:solidFill>
                <a:latin typeface="Aptos"/>
              </a:defRPr>
            </a:pPr>
            <a:r>
              <a:t>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743200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1" i="0">
                <a:solidFill>
                  <a:srgbClr val="5F5F5F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743200"/>
            <a:ext cx="5303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1" i="0">
                <a:solidFill>
                  <a:srgbClr val="5F5F5F"/>
                </a:solidFill>
                <a:latin typeface="Aptos"/>
              </a:defRPr>
            </a:pPr>
            <a:r>
              <a:t>WHAT IT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D — Default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154680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54680"/>
            <a:ext cx="5486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Previous loan defaults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2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M — Missed EMI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935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93592"/>
            <a:ext cx="5486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Percentage of due EMIs missed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P — Payment delays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032504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032504"/>
            <a:ext cx="5486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Severity of late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71416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O — Outstanding debt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71416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471416"/>
            <a:ext cx="5486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Debt burden vs repayment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H — Repayment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91032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910328"/>
            <a:ext cx="54864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0F0F0F"/>
                </a:solidFill>
                <a:latin typeface="Aptos"/>
              </a:defRPr>
            </a:pPr>
            <a:r>
              <a:t>Overall repayment 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1">
                <a:solidFill>
                  <a:srgbClr val="5F5F5F"/>
                </a:solidFill>
                <a:latin typeface="Aptos"/>
              </a:defRPr>
            </a:pPr>
            <a:r>
              <a:t>A higher R indicates higher assessed risk; it is not proof that fraud occurred.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t>Formula 2: Risk score after a fraud transaction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Adds 15 points per fraud transaction, with a maximum score of 100.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3200" b="1" i="0">
                <a:solidFill>
                  <a:srgbClr val="0F0F0F"/>
                </a:solidFill>
                <a:latin typeface="Aptos"/>
              </a:defRPr>
            </a:pPr>
            <a:r>
              <a:t>R_new = min(100, R_old + 15)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 b="1" i="0">
                <a:solidFill>
                  <a:srgbClr val="0F0F0F"/>
                </a:solidFill>
                <a:latin typeface="Aptos"/>
              </a:defRPr>
            </a:pPr>
            <a:r>
              <a:t>Example calculations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996696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0" i="0">
                <a:solidFill>
                  <a:srgbClr val="0F0F0F"/>
                </a:solidFill>
                <a:latin typeface="Aptos"/>
              </a:defRPr>
            </a:pPr>
            <a:r>
              <a:t>If R_old = 72:  R_new = min(100, 72 + 15) = 87</a:t>
            </a:r>
          </a:p>
          <a:p>
            <a:pPr>
              <a:spcAft>
                <a:spcPts val="500"/>
              </a:spcAft>
              <a:defRPr sz="2000" b="0" i="0">
                <a:solidFill>
                  <a:srgbClr val="0F0F0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2000" b="0" i="0">
                <a:solidFill>
                  <a:srgbClr val="0F0F0F"/>
                </a:solidFill>
                <a:latin typeface="Aptos"/>
              </a:defRPr>
            </a:pPr>
            <a:r>
              <a:t>If R_old = 95:  R_new = min(100, 95 + 15) =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1">
                <a:solidFill>
                  <a:srgbClr val="5F5F5F"/>
                </a:solidFill>
                <a:latin typeface="Aptos"/>
              </a:defRPr>
            </a:pPr>
            <a:r>
              <a:t>This is the account-risk update rule. loan_risk_score is a separate field for loan repayment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Example 1: </a:t>
            </a:r>
            <a:r>
              <a:rPr lang="en-IN" dirty="0"/>
              <a:t>Nitara Saha</a:t>
            </a:r>
            <a:r>
              <a:rPr dirty="0"/>
              <a:t>'s fraud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Question asked by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33272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5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“How many fraud transactions are linked to </a:t>
            </a:r>
            <a:r>
              <a:rPr lang="en-IN" dirty="0"/>
              <a:t>Nitara Saha</a:t>
            </a:r>
            <a:r>
              <a:rPr dirty="0"/>
              <a:t>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 b="1" i="0">
                <a:solidFill>
                  <a:srgbClr val="0F0F0F"/>
                </a:solidFill>
                <a:latin typeface="Aptos"/>
              </a:defRPr>
            </a:pPr>
            <a:r>
              <a:t>How FinAssist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058400" cy="121417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1. The model uses the schema to draft a query.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2. The query finds </a:t>
            </a:r>
            <a:r>
              <a:rPr lang="en-IN" dirty="0"/>
              <a:t>Harini Dhawan</a:t>
            </a:r>
            <a:r>
              <a:rPr dirty="0"/>
              <a:t>'s </a:t>
            </a:r>
            <a:r>
              <a:rPr dirty="0" err="1"/>
              <a:t>account_id</a:t>
            </a:r>
            <a:r>
              <a:rPr dirty="0"/>
              <a:t> in Accounts.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3. It searches Transactions where flagged is true and the account is the sender or receiver.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4. PostgreSQL returns matching rows; the application shows the count/details and an explanation.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1">
                <a:solidFill>
                  <a:srgbClr val="5F5F5F"/>
                </a:solidFill>
                <a:latin typeface="Aptos"/>
              </a:defRPr>
            </a:pPr>
            <a:r>
              <a:t>The actual count depends on the current database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7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Example 2: </a:t>
            </a:r>
            <a:r>
              <a:rPr lang="en-IN" dirty="0"/>
              <a:t>Harini Dhawan</a:t>
            </a:r>
            <a:r>
              <a:rPr dirty="0"/>
              <a:t>'s loan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822960" cy="411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0">
                <a:solidFill>
                  <a:srgbClr val="5F5F5F"/>
                </a:solidFill>
                <a:latin typeface="Aptos"/>
              </a:defRPr>
            </a:pPr>
            <a:r>
              <a:t>Question asked by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33272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500" b="1" i="0">
                <a:solidFill>
                  <a:srgbClr val="0F0F0F"/>
                </a:solidFill>
                <a:latin typeface="Aptos"/>
              </a:defRPr>
            </a:pPr>
            <a:r>
              <a:rPr dirty="0"/>
              <a:t>“How risky is it to give a loan to </a:t>
            </a:r>
            <a:r>
              <a:rPr lang="en-IN" dirty="0"/>
              <a:t>Harini Dhawan</a:t>
            </a:r>
            <a:r>
              <a:rPr dirty="0"/>
              <a:t>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 b="1" i="0">
                <a:solidFill>
                  <a:srgbClr val="0F0F0F"/>
                </a:solidFill>
                <a:latin typeface="Aptos"/>
              </a:defRPr>
            </a:pPr>
            <a:r>
              <a:t>How FinAssist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058400" cy="1524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1. Finds </a:t>
            </a:r>
            <a:r>
              <a:rPr lang="en-IN" dirty="0"/>
              <a:t>Harini Dhawan</a:t>
            </a:r>
            <a:r>
              <a:rPr dirty="0"/>
              <a:t>'s account and related Loans records.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2. Checks loan amount, outstanding amount, missed EMIs and days past due.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3. Reads the stored </a:t>
            </a:r>
            <a:r>
              <a:rPr dirty="0" err="1"/>
              <a:t>loan_risk_score</a:t>
            </a:r>
            <a:r>
              <a:rPr dirty="0"/>
              <a:t> if it has been calculated.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4. Explains which factors suggest higher or lower risk.</a:t>
            </a:r>
          </a:p>
          <a:p>
            <a:pPr>
              <a:spcAft>
                <a:spcPts val="500"/>
              </a:spcAft>
              <a:defRPr sz="1600" b="0" i="0">
                <a:solidFill>
                  <a:srgbClr val="0F0F0F"/>
                </a:solidFill>
                <a:latin typeface="Aptos"/>
              </a:defRPr>
            </a:pPr>
            <a:r>
              <a:rPr dirty="0"/>
              <a:t>5. If needed data or a score is missing, it should state that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 i="1">
                <a:solidFill>
                  <a:srgbClr val="5F5F5F"/>
                </a:solidFill>
                <a:latin typeface="Aptos"/>
              </a:defRPr>
            </a:pPr>
            <a:r>
              <a:t>A risk score supports review; it should not be treated as the only basis for a lending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24128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800" b="1" i="0">
                <a:solidFill>
                  <a:srgbClr val="FFFFFF"/>
                </a:solidFill>
                <a:latin typeface="Aptos"/>
              </a:defRPr>
            </a:pPr>
            <a:r>
              <a:t>Technologies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DCDCDC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554480"/>
            <a:ext cx="749807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Chat interface for entering questions and viewing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DCDCD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240280"/>
            <a:ext cx="749807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Receives the question and returns a structured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DCDCDC"/>
                </a:solidFill>
                <a:latin typeface="Aptos"/>
              </a:defRPr>
            </a:pPr>
            <a:r>
              <a:t>LangChain + Groq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26080"/>
            <a:ext cx="749807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Connects to the language model to generate SQL and explain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DCDCDC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611880"/>
            <a:ext cx="749807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Controls the workflow and retry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2377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DCDCDC"/>
                </a:solidFill>
                <a:latin typeface="Aptos"/>
              </a:defRPr>
            </a:pPr>
            <a:r>
              <a:rPr dirty="0"/>
              <a:t>PostgreSQL + </a:t>
            </a:r>
            <a:r>
              <a:rPr dirty="0" err="1"/>
              <a:t>SQLGlot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291840" y="4297680"/>
            <a:ext cx="7498079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FFFFFF"/>
                </a:solidFill>
                <a:latin typeface="Aptos"/>
              </a:defRPr>
            </a:pPr>
            <a:r>
              <a:t>PostgreSQL stores/query data; SQLGlot checks generated SQL before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10058400" cy="1396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FinAssist</a:t>
            </a:r>
            <a:r>
              <a:rPr dirty="0"/>
              <a:t> turns a question in plain English into a checked database query and a readable explanation.</a:t>
            </a:r>
          </a:p>
          <a:p>
            <a:pPr>
              <a:spcAft>
                <a:spcPts val="5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1075</Words>
  <Application>Microsoft Office PowerPoint</Application>
  <PresentationFormat>Widescreen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Souvik Dhara</dc:creator>
  <cp:keywords/>
  <dc:description>generated using python-pptx</dc:description>
  <cp:lastModifiedBy>Souvik Dhara</cp:lastModifiedBy>
  <cp:revision>3</cp:revision>
  <dcterms:created xsi:type="dcterms:W3CDTF">2013-01-27T09:14:16Z</dcterms:created>
  <dcterms:modified xsi:type="dcterms:W3CDTF">2026-10-30T15:05:54Z</dcterms:modified>
  <cp:category/>
</cp:coreProperties>
</file>